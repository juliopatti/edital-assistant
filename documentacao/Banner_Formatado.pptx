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7700" cy="43195875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5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gzm9ATxH6MAz30uqWU9h1+briE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6E8E9-37B4-41C8-854B-7DD3002E3C0A}" v="11" dt="2026-05-17T21:36:19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16" autoAdjust="0"/>
  </p:normalViewPr>
  <p:slideViewPr>
    <p:cSldViewPr snapToGrid="0">
      <p:cViewPr>
        <p:scale>
          <a:sx n="25" d="100"/>
          <a:sy n="25" d="100"/>
        </p:scale>
        <p:origin x="-1368" y="-331"/>
      </p:cViewPr>
      <p:guideLst>
        <p:guide orient="horz" pos="13605"/>
        <p:guide pos="10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customschemas.google.com/relationships/presentationmetadata" Target="meta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4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Vitor Dallegrave" userId="c409db0a-cdfd-4ff6-854e-003bd7e19df1" providerId="ADAL" clId="{EED38307-37BA-423B-9F24-59C22C05635A}"/>
    <pc:docChg chg="undo redo custSel modSld">
      <pc:chgData name="Joao Vitor Dallegrave" userId="c409db0a-cdfd-4ff6-854e-003bd7e19df1" providerId="ADAL" clId="{EED38307-37BA-423B-9F24-59C22C05635A}" dt="2026-05-17T21:47:47.349" v="1155" actId="1036"/>
      <pc:docMkLst>
        <pc:docMk/>
      </pc:docMkLst>
      <pc:sldChg chg="addSp delSp modSp mod">
        <pc:chgData name="Joao Vitor Dallegrave" userId="c409db0a-cdfd-4ff6-854e-003bd7e19df1" providerId="ADAL" clId="{EED38307-37BA-423B-9F24-59C22C05635A}" dt="2026-05-17T21:47:47.349" v="1155" actId="1036"/>
        <pc:sldMkLst>
          <pc:docMk/>
          <pc:sldMk cId="0" sldId="256"/>
        </pc:sldMkLst>
        <pc:spChg chg="mod">
          <ac:chgData name="Joao Vitor Dallegrave" userId="c409db0a-cdfd-4ff6-854e-003bd7e19df1" providerId="ADAL" clId="{EED38307-37BA-423B-9F24-59C22C05635A}" dt="2026-05-17T21:41:53.706" v="823" actId="947"/>
          <ac:spMkLst>
            <pc:docMk/>
            <pc:sldMk cId="0" sldId="256"/>
            <ac:spMk id="84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42:20.524" v="928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43:00.735" v="938" actId="20577"/>
          <ac:spMkLst>
            <pc:docMk/>
            <pc:sldMk cId="0" sldId="256"/>
            <ac:spMk id="89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22:01.639" v="60" actId="1035"/>
          <ac:spMkLst>
            <pc:docMk/>
            <pc:sldMk cId="0" sldId="256"/>
            <ac:spMk id="90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21:51.490" v="55" actId="1036"/>
          <ac:spMkLst>
            <pc:docMk/>
            <pc:sldMk cId="0" sldId="256"/>
            <ac:spMk id="91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47:39.841" v="1148" actId="20577"/>
          <ac:spMkLst>
            <pc:docMk/>
            <pc:sldMk cId="0" sldId="256"/>
            <ac:spMk id="92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32:32.331" v="506"/>
          <ac:spMkLst>
            <pc:docMk/>
            <pc:sldMk cId="0" sldId="256"/>
            <ac:spMk id="93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46:02.753" v="1109" actId="103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20:02.784" v="37" actId="1076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42:06.561" v="864" actId="1035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42:06.561" v="864" actId="1035"/>
          <ac:spMkLst>
            <pc:docMk/>
            <pc:sldMk cId="0" sldId="256"/>
            <ac:spMk id="103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42:09.628" v="885" actId="1035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38:09.949" v="764" actId="1036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47:47.349" v="1155" actId="1036"/>
          <ac:spMkLst>
            <pc:docMk/>
            <pc:sldMk cId="0" sldId="256"/>
            <ac:spMk id="112" creationId="{00000000-0000-0000-0000-000000000000}"/>
          </ac:spMkLst>
        </pc:spChg>
        <pc:spChg chg="mod">
          <ac:chgData name="Joao Vitor Dallegrave" userId="c409db0a-cdfd-4ff6-854e-003bd7e19df1" providerId="ADAL" clId="{EED38307-37BA-423B-9F24-59C22C05635A}" dt="2026-05-17T21:39:28.125" v="818"/>
          <ac:spMkLst>
            <pc:docMk/>
            <pc:sldMk cId="0" sldId="256"/>
            <ac:spMk id="113" creationId="{00000000-0000-0000-0000-000000000000}"/>
          </ac:spMkLst>
        </pc:spChg>
        <pc:grpChg chg="mod">
          <ac:chgData name="Joao Vitor Dallegrave" userId="c409db0a-cdfd-4ff6-854e-003bd7e19df1" providerId="ADAL" clId="{EED38307-37BA-423B-9F24-59C22C05635A}" dt="2026-05-17T21:24:31.778" v="174" actId="1036"/>
          <ac:grpSpMkLst>
            <pc:docMk/>
            <pc:sldMk cId="0" sldId="256"/>
            <ac:grpSpMk id="86" creationId="{00000000-0000-0000-0000-000000000000}"/>
          </ac:grpSpMkLst>
        </pc:grpChg>
        <pc:grpChg chg="mod">
          <ac:chgData name="Joao Vitor Dallegrave" userId="c409db0a-cdfd-4ff6-854e-003bd7e19df1" providerId="ADAL" clId="{EED38307-37BA-423B-9F24-59C22C05635A}" dt="2026-05-17T21:42:13.884" v="904" actId="1035"/>
          <ac:grpSpMkLst>
            <pc:docMk/>
            <pc:sldMk cId="0" sldId="256"/>
            <ac:grpSpMk id="94" creationId="{00000000-0000-0000-0000-000000000000}"/>
          </ac:grpSpMkLst>
        </pc:grpChg>
        <pc:grpChg chg="mod">
          <ac:chgData name="Joao Vitor Dallegrave" userId="c409db0a-cdfd-4ff6-854e-003bd7e19df1" providerId="ADAL" clId="{EED38307-37BA-423B-9F24-59C22C05635A}" dt="2026-05-17T21:20:52.866" v="40" actId="1076"/>
          <ac:grpSpMkLst>
            <pc:docMk/>
            <pc:sldMk cId="0" sldId="256"/>
            <ac:grpSpMk id="97" creationId="{00000000-0000-0000-0000-000000000000}"/>
          </ac:grpSpMkLst>
        </pc:grpChg>
        <pc:grpChg chg="mod">
          <ac:chgData name="Joao Vitor Dallegrave" userId="c409db0a-cdfd-4ff6-854e-003bd7e19df1" providerId="ADAL" clId="{EED38307-37BA-423B-9F24-59C22C05635A}" dt="2026-05-17T21:38:16.338" v="784" actId="1036"/>
          <ac:grpSpMkLst>
            <pc:docMk/>
            <pc:sldMk cId="0" sldId="256"/>
            <ac:grpSpMk id="106" creationId="{00000000-0000-0000-0000-000000000000}"/>
          </ac:grpSpMkLst>
        </pc:grpChg>
        <pc:grpChg chg="mod">
          <ac:chgData name="Joao Vitor Dallegrave" userId="c409db0a-cdfd-4ff6-854e-003bd7e19df1" providerId="ADAL" clId="{EED38307-37BA-423B-9F24-59C22C05635A}" dt="2026-05-17T21:47:47.349" v="1155" actId="1036"/>
          <ac:grpSpMkLst>
            <pc:docMk/>
            <pc:sldMk cId="0" sldId="256"/>
            <ac:grpSpMk id="109" creationId="{00000000-0000-0000-0000-000000000000}"/>
          </ac:grpSpMkLst>
        </pc:grpChg>
        <pc:grpChg chg="mod">
          <ac:chgData name="Joao Vitor Dallegrave" userId="c409db0a-cdfd-4ff6-854e-003bd7e19df1" providerId="ADAL" clId="{EED38307-37BA-423B-9F24-59C22C05635A}" dt="2026-05-17T21:34:49.454" v="575" actId="1035"/>
          <ac:grpSpMkLst>
            <pc:docMk/>
            <pc:sldMk cId="0" sldId="256"/>
            <ac:grpSpMk id="114" creationId="{00000000-0000-0000-0000-000000000000}"/>
          </ac:grpSpMkLst>
        </pc:grpChg>
        <pc:grpChg chg="del">
          <ac:chgData name="Joao Vitor Dallegrave" userId="c409db0a-cdfd-4ff6-854e-003bd7e19df1" providerId="ADAL" clId="{EED38307-37BA-423B-9F24-59C22C05635A}" dt="2026-05-17T21:29:20.079" v="381" actId="478"/>
          <ac:grpSpMkLst>
            <pc:docMk/>
            <pc:sldMk cId="0" sldId="256"/>
            <ac:grpSpMk id="117" creationId="{00000000-0000-0000-0000-000000000000}"/>
          </ac:grpSpMkLst>
        </pc:grpChg>
        <pc:picChg chg="add del mod">
          <ac:chgData name="Joao Vitor Dallegrave" userId="c409db0a-cdfd-4ff6-854e-003bd7e19df1" providerId="ADAL" clId="{EED38307-37BA-423B-9F24-59C22C05635A}" dt="2026-05-17T21:29:32.145" v="386" actId="478"/>
          <ac:picMkLst>
            <pc:docMk/>
            <pc:sldMk cId="0" sldId="256"/>
            <ac:picMk id="2" creationId="{E4769266-21AB-10B6-E180-3C110BE93430}"/>
          </ac:picMkLst>
        </pc:picChg>
        <pc:picChg chg="add mod">
          <ac:chgData name="Joao Vitor Dallegrave" userId="c409db0a-cdfd-4ff6-854e-003bd7e19df1" providerId="ADAL" clId="{EED38307-37BA-423B-9F24-59C22C05635A}" dt="2026-05-17T21:42:37.289" v="930" actId="1076"/>
          <ac:picMkLst>
            <pc:docMk/>
            <pc:sldMk cId="0" sldId="256"/>
            <ac:picMk id="3" creationId="{EC24A32B-4095-5E10-28EB-A5C385E15DF5}"/>
          </ac:picMkLst>
        </pc:picChg>
        <pc:picChg chg="add mod">
          <ac:chgData name="Joao Vitor Dallegrave" userId="c409db0a-cdfd-4ff6-854e-003bd7e19df1" providerId="ADAL" clId="{EED38307-37BA-423B-9F24-59C22C05635A}" dt="2026-05-17T21:39:10.003" v="813" actId="1076"/>
          <ac:picMkLst>
            <pc:docMk/>
            <pc:sldMk cId="0" sldId="256"/>
            <ac:picMk id="5" creationId="{803B557F-056B-2D2C-1CF8-06FBDB6195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429828" y="13418722"/>
            <a:ext cx="27538045" cy="925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859655" y="24477662"/>
            <a:ext cx="22678390" cy="11038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rgbClr val="888888"/>
              </a:buClr>
              <a:buSzPts val="151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rgbClr val="888888"/>
              </a:buClr>
              <a:buSzPts val="13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559195" y="27757352"/>
            <a:ext cx="27538045" cy="8579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0"/>
              <a:buFont typeface="Calibri"/>
              <a:buNone/>
              <a:defRPr sz="189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559195" y="18308258"/>
            <a:ext cx="27538045" cy="944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 sz="9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8500"/>
              <a:buNone/>
              <a:defRPr sz="8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rgbClr val="888888"/>
              </a:buClr>
              <a:buSzPts val="7600"/>
              <a:buNone/>
              <a:defRPr sz="7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5737093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10668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marL="914400" lvl="1" indent="-94615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marL="1371600" lvl="2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marL="1828800" lvl="3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marL="2286000" lvl="4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marL="2743200" lvl="5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marL="3200400" lvl="6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marL="3657600" lvl="7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marL="4114800" lvl="8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57663406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10668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marL="914400" lvl="1" indent="-94615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marL="1371600" lvl="2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marL="1828800" lvl="3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marL="2286000" lvl="4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marL="2743200" lvl="5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marL="3200400" lvl="6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marL="3657600" lvl="7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marL="4114800" lvl="8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619885" y="9669080"/>
            <a:ext cx="14314611" cy="402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sz="11300" b="1"/>
            </a:lvl1pPr>
            <a:lvl2pPr marL="914400" lvl="1" indent="-228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sz="9400" b="1"/>
            </a:lvl2pPr>
            <a:lvl3pPr marL="1371600" lvl="2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8500" b="1"/>
            </a:lvl3pPr>
            <a:lvl4pPr marL="1828800" lvl="3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4pPr>
            <a:lvl5pPr marL="2286000" lvl="4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5pPr>
            <a:lvl6pPr marL="2743200" lvl="5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6pPr>
            <a:lvl7pPr marL="3200400" lvl="6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7pPr>
            <a:lvl8pPr marL="3657600" lvl="7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8pPr>
            <a:lvl9pPr marL="4114800" lvl="8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619885" y="13698692"/>
            <a:ext cx="14314611" cy="2488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94615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marL="914400" lvl="1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marL="1371600" lvl="2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marL="1828800" lvl="3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marL="2286000" lvl="4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marL="2743200" lvl="5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marL="3200400" lvl="6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marL="3657600" lvl="7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marL="4114800" lvl="8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6457584" y="9669080"/>
            <a:ext cx="14320233" cy="402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sz="11300" b="1"/>
            </a:lvl1pPr>
            <a:lvl2pPr marL="914400" lvl="1" indent="-228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sz="9400" b="1"/>
            </a:lvl2pPr>
            <a:lvl3pPr marL="1371600" lvl="2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8500" b="1"/>
            </a:lvl3pPr>
            <a:lvl4pPr marL="1828800" lvl="3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4pPr>
            <a:lvl5pPr marL="2286000" lvl="4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5pPr>
            <a:lvl6pPr marL="2743200" lvl="5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6pPr>
            <a:lvl7pPr marL="3200400" lvl="6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7pPr>
            <a:lvl8pPr marL="3657600" lvl="7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8pPr>
            <a:lvl9pPr marL="4114800" lvl="8" indent="-228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6457584" y="13698692"/>
            <a:ext cx="14320233" cy="2488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94615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marL="914400" lvl="1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marL="1371600" lvl="2" indent="-76835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marL="1828800" lvl="3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marL="2286000" lvl="4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marL="2743200" lvl="5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marL="3200400" lvl="6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marL="3657600" lvl="7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marL="4114800" lvl="8" indent="-711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619887" y="1719836"/>
            <a:ext cx="10658620" cy="731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sz="9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2666601" y="1719839"/>
            <a:ext cx="18111214" cy="368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118745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15100"/>
            </a:lvl1pPr>
            <a:lvl2pPr marL="914400" lvl="1" indent="-10668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13200"/>
            </a:lvl2pPr>
            <a:lvl3pPr marL="1371600" lvl="2" indent="-94615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3pPr>
            <a:lvl4pPr marL="1828800" lvl="3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4pPr>
            <a:lvl5pPr marL="2286000" lvl="4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9400"/>
            </a:lvl5pPr>
            <a:lvl6pPr marL="2743200" lvl="5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6pPr>
            <a:lvl7pPr marL="3200400" lvl="6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7pPr>
            <a:lvl8pPr marL="3657600" lvl="7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8pPr>
            <a:lvl9pPr marL="4114800" lvl="8" indent="-8255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619887" y="9039140"/>
            <a:ext cx="10658620" cy="29547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marL="914400" lvl="1" indent="-2286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marL="1371600" lvl="2" indent="-228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marL="1828800" lvl="3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marL="2286000" lvl="4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marL="2743200" lvl="5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marL="3200400" lvl="6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marL="3657600" lvl="7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marL="4114800" lvl="8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350176" y="30237113"/>
            <a:ext cx="19438620" cy="356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sz="9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6350176" y="3859631"/>
            <a:ext cx="19438620" cy="259175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6350176" y="33806775"/>
            <a:ext cx="19438620" cy="506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marL="914400" lvl="1" indent="-2286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marL="1371600" lvl="2" indent="-228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marL="1828800" lvl="3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marL="2286000" lvl="4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marL="2743200" lvl="5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marL="3200400" lvl="6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marL="3657600" lvl="7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marL="4114800" lvl="8" indent="-228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1945210" y="9753717"/>
            <a:ext cx="28507281" cy="29157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-19933241" y="114053792"/>
            <a:ext cx="232137832" cy="25828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71859555" y="88495606"/>
            <a:ext cx="232137832" cy="7694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t" anchorCtr="0">
            <a:normAutofit/>
          </a:bodyPr>
          <a:lstStyle>
            <a:lvl1pPr marL="457200" marR="0" lvl="0" indent="-1187450" algn="l" rtl="0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sz="15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1066800" algn="l" rtl="0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sz="1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946150" algn="l" rtl="0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sz="1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–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»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825500" algn="l" rtl="0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sz="9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950" tIns="215975" rIns="431950" bIns="2159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01425" y="12209175"/>
            <a:ext cx="14400000" cy="6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SzPts val="3800"/>
            </a:pPr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Editais de concursos públicos são documentos extensos que dificultam a localização de informações, especialmente quando abrangem múltiplos cargos. Este trabalho propõe uma ferramenta baseada em </a:t>
            </a:r>
            <a:r>
              <a:rPr lang="pt-BR" sz="4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LLMs</a:t>
            </a:r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 RAG para consultas em linguagem natural, recuperando trechos relevantes dos editais. O sistema foi desenvolvido com repositório público no GitHub</a:t>
            </a:r>
            <a:r>
              <a:rPr lang="pt-BR" sz="40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contendo documentação e artefatos do projeto.</a:t>
            </a:r>
            <a:endParaRPr sz="4000" b="0" i="0" u="none" strike="noStrike" cap="none" dirty="0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312925" y="22160805"/>
            <a:ext cx="14400000" cy="12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solução, denominada Assistente de Editais, é estruturada como um agente especializado baseado em RAG, capaz de responder perguntas em linguagem natural a partir de uma base documental construída com os próprios editais. O sistema utiliza um pipeline de ingestão que transforma arquivos PDF em uma base estruturada: geração de sumário, divisão em capítulos, conversão para </a:t>
            </a:r>
            <a:r>
              <a:rPr lang="pt-BR" sz="4000" b="0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Markdown</a:t>
            </a: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segmentação em </a:t>
            </a:r>
            <a:r>
              <a:rPr lang="pt-BR" sz="4000" b="0" i="1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chunks</a:t>
            </a: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com metadados e indexação vetorial com </a:t>
            </a:r>
            <a:r>
              <a:rPr lang="pt-BR" sz="4000" b="0" i="1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embeddings</a:t>
            </a: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 código aberto, conforme demonstrado na Figura 1.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32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lang="pt-BR" sz="3200" b="1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Figura 1 </a:t>
            </a:r>
            <a:r>
              <a:rPr lang="pt-BR" sz="32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 Arquitetura geral da ferramenta de consulta a editais</a:t>
            </a: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3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Fonte: autoria própria (2026).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sz="4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sz="4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sz="4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1427216" y="10892045"/>
            <a:ext cx="14376606" cy="1292700"/>
            <a:chOff x="1883002" y="12262157"/>
            <a:chExt cx="14197715" cy="1292700"/>
          </a:xfrm>
        </p:grpSpPr>
        <p:sp>
          <p:nvSpPr>
            <p:cNvPr id="87" name="Google Shape;87;p1"/>
            <p:cNvSpPr txBox="1"/>
            <p:nvPr/>
          </p:nvSpPr>
          <p:spPr>
            <a:xfrm>
              <a:off x="1883002" y="12262157"/>
              <a:ext cx="5978213" cy="12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lang="en-US" sz="8000" b="1" i="0" u="none" strike="noStrike" cap="non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Introdução</a:t>
              </a:r>
              <a:endParaRPr sz="8000" b="1" i="0" u="none" strike="noStrike" cap="non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 rot="-5400000">
              <a:off x="11827767" y="8904179"/>
              <a:ext cx="144000" cy="83619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endParaRPr sz="8500" b="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 txBox="1"/>
          <p:nvPr/>
        </p:nvSpPr>
        <p:spPr>
          <a:xfrm>
            <a:off x="16647475" y="12437775"/>
            <a:ext cx="14400000" cy="7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pesquisa foi conduzida como desenvolvimento experimental, envolvendo três editais de concursos públicos (BNDES</a:t>
            </a:r>
            <a:r>
              <a:rPr lang="pt-BR" sz="4000" b="0" i="0" u="none" strike="noStrike" cap="none" baseline="30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CVM</a:t>
            </a:r>
            <a:r>
              <a:rPr lang="pt-BR" sz="4000" b="0" i="0" u="none" strike="noStrike" cap="none" baseline="30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 Petrobras</a:t>
            </a:r>
            <a:r>
              <a:rPr lang="pt-BR" sz="4000" b="0" i="0" u="none" strike="noStrike" cap="none" baseline="30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Foram aplicadas cinquenta perguntas por edital, totalizando 1.650 respostas avaliadas em 11 sistemas distintos, incluindo 9 modelos via API e 2 </a:t>
            </a:r>
            <a:r>
              <a:rPr lang="pt-BR" sz="4000" b="0" i="1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chats</a:t>
            </a: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comerciais gratuitos. A avaliação considerou: </a:t>
            </a:r>
          </a:p>
          <a:p>
            <a:pPr marL="571500" marR="0" lvl="0" indent="-571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 pitchFamily="34" charset="0"/>
              <a:buChar char="•"/>
            </a:pP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Acurácia factual (com dois modelos juízes e validação humana);</a:t>
            </a:r>
          </a:p>
          <a:p>
            <a:pPr marL="571500" marR="0" lvl="0" indent="-571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 pitchFamily="34" charset="0"/>
              <a:buChar char="•"/>
            </a:pP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Concisão das respostas;</a:t>
            </a:r>
          </a:p>
          <a:p>
            <a:pPr marL="571500" marR="0" lvl="0" indent="-571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 pitchFamily="34" charset="0"/>
              <a:buChar char="•"/>
            </a:pP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 e latência (para modelos via API).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417214" y="3427891"/>
            <a:ext cx="297516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3458"/>
              </a:buClr>
              <a:buSzPts val="9000"/>
              <a:buFont typeface="Lato"/>
              <a:buNone/>
            </a:pPr>
            <a:r>
              <a:rPr lang="pt-BR" sz="9000" b="1" i="0" u="none" strike="noStrike" cap="none" dirty="0">
                <a:solidFill>
                  <a:srgbClr val="351C75"/>
                </a:solidFill>
                <a:latin typeface="Lato"/>
                <a:ea typeface="Lato"/>
                <a:cs typeface="Lato"/>
                <a:sym typeface="Lato"/>
              </a:rPr>
              <a:t>Democratização do Acesso à Informação em Editais de Concursos Públicos de Ciência de Dados por Meio de </a:t>
            </a:r>
            <a:r>
              <a:rPr lang="pt-BR" sz="9000" b="1" i="0" u="none" strike="noStrike" cap="none" dirty="0" err="1">
                <a:solidFill>
                  <a:srgbClr val="351C75"/>
                </a:solidFill>
                <a:latin typeface="Lato"/>
                <a:ea typeface="Lato"/>
                <a:cs typeface="Lato"/>
                <a:sym typeface="Lato"/>
              </a:rPr>
              <a:t>Retrieval-Augmented</a:t>
            </a:r>
            <a:r>
              <a:rPr lang="pt-BR" sz="9000" b="1" i="0" u="none" strike="noStrike" cap="none" dirty="0">
                <a:solidFill>
                  <a:srgbClr val="351C75"/>
                </a:solidFill>
                <a:latin typeface="Lato"/>
                <a:ea typeface="Lato"/>
                <a:cs typeface="Lato"/>
                <a:sym typeface="Lato"/>
              </a:rPr>
              <a:t> Generation</a:t>
            </a:r>
          </a:p>
        </p:txBody>
      </p:sp>
      <p:sp>
        <p:nvSpPr>
          <p:cNvPr id="91" name="Google Shape;91;p1"/>
          <p:cNvSpPr txBox="1"/>
          <p:nvPr/>
        </p:nvSpPr>
        <p:spPr>
          <a:xfrm>
            <a:off x="1575314" y="8468158"/>
            <a:ext cx="292749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Dallegrave, João Vítor</a:t>
            </a:r>
            <a:r>
              <a:rPr lang="pt-BR" sz="40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 Pereira, Júlio Patti</a:t>
            </a:r>
            <a:r>
              <a:rPr lang="pt-BR" sz="40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 Castro, Leonardo Fernandes de</a:t>
            </a:r>
            <a:r>
              <a:rPr lang="pt-BR" sz="40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algn="ctr"/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32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123</a:t>
            </a:r>
            <a:r>
              <a:rPr lang="pt-BR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Universidade Federal de Goiás (UFG), Instituto de Informática, Centro de Competência </a:t>
            </a:r>
            <a:r>
              <a:rPr lang="pt-BR" sz="3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Embrapii</a:t>
            </a:r>
            <a:r>
              <a:rPr lang="pt-BR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em Tecnologias Imersivas (AKCIT).</a:t>
            </a:r>
          </a:p>
          <a:p>
            <a:pPr algn="ctr"/>
            <a:r>
              <a:rPr lang="pt-BR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E-mail: </a:t>
            </a:r>
            <a:r>
              <a:rPr lang="pt-BR" sz="32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r>
              <a:rPr lang="pt-BR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joaovitor.dallegrave@gmail.com; </a:t>
            </a:r>
            <a:r>
              <a:rPr lang="pt-BR" sz="32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lang="pt-BR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juliopatti@gmail.com; </a:t>
            </a:r>
            <a:r>
              <a:rPr lang="pt-BR" sz="32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  <a:r>
              <a:rPr lang="pt-BR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leonardo.decastro.brazil@gmail.com.</a:t>
            </a:r>
          </a:p>
          <a:p>
            <a:pPr algn="ctr"/>
            <a:r>
              <a:rPr lang="pt-BR" sz="4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Orientadore</a:t>
            </a:r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(s)/a(s): Me. </a:t>
            </a:r>
            <a:r>
              <a:rPr lang="pt-BR" sz="4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Hidelberg</a:t>
            </a:r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Oliveira Albuquerque, Me. Luan Oliveira da Silva, Ma. Leidiane Beatriz Passos Rodrigues</a:t>
            </a:r>
            <a:endParaRPr sz="4000" b="0" i="0" u="none" strike="noStrike" cap="none" dirty="0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435850" y="37482957"/>
            <a:ext cx="294354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lang="it-IT" sz="2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CASTRO, L. F.; DALLEGRAVE, J. V.; PEREIRA, J. P. (2026)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BANCO NACIONAL DE DESENVOLVIMENTO ECONÔMICO E SOCIAL (2024).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COMISSÃO DE VALORES MOBILIÁRIOS (2024)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PETRÓLEO BRASILEIRO S.A. (2021).</a:t>
            </a:r>
            <a:endParaRPr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6569603" y="10796660"/>
            <a:ext cx="14228700" cy="15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i="0" u="none" strike="noStrike" cap="none" dirty="0" err="1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Procedimentos</a:t>
            </a:r>
            <a:r>
              <a:rPr lang="en-US" sz="8000" b="1" i="0" u="none" strike="noStrike" cap="none" dirty="0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8000" b="1" i="0" u="none" strike="noStrike" cap="none" dirty="0" err="1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Metodológicos</a:t>
            </a:r>
            <a:r>
              <a:rPr lang="en-US" sz="8000" b="1" i="0" u="none" strike="noStrike" cap="none" dirty="0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-US" sz="8000" b="1" i="0" u="none" strike="noStrike" cap="none" dirty="0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</a:br>
            <a:endParaRPr sz="8000" b="1" i="1" u="none" strike="noStrike" cap="none" dirty="0">
              <a:solidFill>
                <a:srgbClr val="674EA7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1238719" y="20687420"/>
            <a:ext cx="14496581" cy="1292700"/>
            <a:chOff x="1238719" y="35348300"/>
            <a:chExt cx="14496581" cy="1292700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1238719" y="35348300"/>
              <a:ext cx="14275200" cy="12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lang="en-US" sz="8000" b="1" i="0" u="none" strike="noStrike" cap="none" dirty="0" err="1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Descrição</a:t>
              </a:r>
              <a:r>
                <a:rPr lang="en-US" sz="8000" b="1" i="0" u="none" strike="noStrike" cap="none" dirty="0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 da </a:t>
              </a:r>
              <a:r>
                <a:rPr lang="en-US" sz="8000" b="1" i="0" u="none" strike="noStrike" cap="none" dirty="0" err="1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Tecnologia</a:t>
              </a:r>
              <a:endParaRPr sz="8000" b="1" i="0" u="none" strike="noStrike" cap="none" dirty="0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 rot="-5400000">
              <a:off x="14063100" y="34568393"/>
              <a:ext cx="144000" cy="32004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endParaRPr sz="8500" b="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1760800" y="7299844"/>
            <a:ext cx="29435400" cy="1500900"/>
            <a:chOff x="1270514" y="8650168"/>
            <a:chExt cx="29435400" cy="1500900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1270514" y="8650168"/>
              <a:ext cx="29435400" cy="150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lang="en-US" sz="8000" b="1" i="0" u="none" strike="noStrike" cap="none" dirty="0" err="1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Autoria</a:t>
              </a:r>
              <a:endParaRPr sz="1400" b="0" i="0" u="none" strike="noStrike" cap="none" dirty="0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 rot="-5400000" flipH="1">
              <a:off x="24371753" y="3294642"/>
              <a:ext cx="144000" cy="123354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endParaRPr sz="8500" b="0" i="0" u="none" strike="noStrike" cap="non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 txBox="1"/>
          <p:nvPr/>
        </p:nvSpPr>
        <p:spPr>
          <a:xfrm>
            <a:off x="746925" y="39690675"/>
            <a:ext cx="30471600" cy="5541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Trabalho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Conclusão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Curso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da Pós-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Graduação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000" b="1" i="1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000" b="1" u="none" strike="noStrike" cap="none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3000" b="1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000" b="1" u="none" strike="noStrike" cap="none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Inteligência</a:t>
            </a:r>
            <a:r>
              <a:rPr lang="en-US" sz="3000" b="1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000" b="1" u="none" strike="noStrike" cap="none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Artifical</a:t>
            </a:r>
            <a:r>
              <a:rPr lang="en-US" sz="3000" b="1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000" b="1" u="none" strike="noStrike" cap="none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Generativa</a:t>
            </a:r>
            <a:r>
              <a:rPr lang="en-US" sz="3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 rot="-5400000" flipH="1">
            <a:off x="7895400" y="1944318"/>
            <a:ext cx="144000" cy="123354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endParaRPr sz="8500" b="0" i="0" u="none" strike="noStrike" cap="non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350125" y="16549238"/>
            <a:ext cx="14020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8000" b="1" i="0" u="none" strike="noStrike" cap="none" dirty="0" err="1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endParaRPr sz="15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 rot="-5400000">
            <a:off x="10940125" y="12679908"/>
            <a:ext cx="144000" cy="940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endParaRPr sz="8500" b="0" i="0" u="none" strike="noStrike" cap="non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501425" y="17842045"/>
            <a:ext cx="142752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buSzPts val="3800"/>
            </a:pPr>
            <a:r>
              <a:rPr lang="pt-BR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Desenvolver e avaliar uma ferramenta para consulta automatizada a editais de concursos públicos na área de Ciência de Dados, utilizando modelos de linguagem integrados a um pipeline estruturado de ingestão documental.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endParaRPr sz="3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6796200" y="31533405"/>
            <a:ext cx="14400000" cy="53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ferramenta demonstrou-se viável para facilitar o acesso à informação em editais públicos, reduzindo o esforço de busca e melhorando a precisão das respostas. Os resultados indicam que a escolha do modelo de linguagem deve considerar múltiplos critérios, incluindo acurácia, concisão, custo e latência. Como recomendação para trabalhos futuros, destaca-se a ampliação da base documental e a realização de testes com usuários reais.</a:t>
            </a:r>
            <a:endParaRPr sz="4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sz="4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sz="4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6" name="Google Shape;106;p1"/>
          <p:cNvGrpSpPr/>
          <p:nvPr/>
        </p:nvGrpSpPr>
        <p:grpSpPr>
          <a:xfrm>
            <a:off x="16675382" y="30458563"/>
            <a:ext cx="14344181" cy="1292700"/>
            <a:chOff x="1162519" y="35348300"/>
            <a:chExt cx="14344181" cy="1292700"/>
          </a:xfrm>
        </p:grpSpPr>
        <p:sp>
          <p:nvSpPr>
            <p:cNvPr id="107" name="Google Shape;107;p1"/>
            <p:cNvSpPr txBox="1"/>
            <p:nvPr/>
          </p:nvSpPr>
          <p:spPr>
            <a:xfrm>
              <a:off x="1162519" y="35348300"/>
              <a:ext cx="14275200" cy="12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lang="en-US" sz="8000" b="1" i="0" u="none" strike="noStrike" cap="non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Considerações Finais</a:t>
              </a:r>
              <a:endParaRPr sz="8000" b="1" i="0" u="none" strike="noStrike" cap="non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 rot="-5400000">
              <a:off x="13377300" y="34111193"/>
              <a:ext cx="144000" cy="41148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endParaRPr sz="8500" b="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499114" y="36485605"/>
            <a:ext cx="29435400" cy="1320492"/>
            <a:chOff x="1270514" y="8726368"/>
            <a:chExt cx="29435400" cy="1500900"/>
          </a:xfrm>
        </p:grpSpPr>
        <p:sp>
          <p:nvSpPr>
            <p:cNvPr id="110" name="Google Shape;110;p1"/>
            <p:cNvSpPr txBox="1"/>
            <p:nvPr/>
          </p:nvSpPr>
          <p:spPr>
            <a:xfrm>
              <a:off x="1270514" y="8726368"/>
              <a:ext cx="29435400" cy="150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lang="en-US" sz="8000" b="1" i="0" u="none" strike="noStrike" cap="non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Referências</a:t>
              </a:r>
              <a:endParaRPr sz="1400" b="0" i="0" u="none" strike="noStrike" cap="non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 rot="-5400000" flipH="1">
              <a:off x="25138253" y="3975942"/>
              <a:ext cx="144000" cy="109728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endParaRPr sz="8500" b="0" i="0" u="none" strike="noStrike" cap="non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1"/>
          <p:cNvSpPr/>
          <p:nvPr/>
        </p:nvSpPr>
        <p:spPr>
          <a:xfrm rot="-5400000" flipH="1">
            <a:off x="6850253" y="31735602"/>
            <a:ext cx="144000" cy="109728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endParaRPr sz="8500" b="0" i="0" u="none" strike="noStrike" cap="non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16700625" y="20577339"/>
            <a:ext cx="14400000" cy="6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Foram analisadas 1.650 respostas, sendo 90,7% corretas; 8,1% parcialmente corretas; e 1,2% incorretas.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lang="pt-BR" sz="40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Todos os sistemas apresentaram acurácia média superior a 0,90, conforme figura 2.</a:t>
            </a:r>
          </a:p>
          <a:p>
            <a:pPr algn="ctr">
              <a:buClr>
                <a:schemeClr val="dk1"/>
              </a:buClr>
              <a:buSzPts val="4000"/>
            </a:pPr>
            <a:r>
              <a:rPr lang="pt-BR" sz="3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Figura 2 </a:t>
            </a:r>
            <a:r>
              <a:rPr lang="pt-BR" sz="3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 Síntese comparativa dos sistemas avaliados</a:t>
            </a: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endParaRPr lang="pt-BR" sz="3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buClr>
                <a:schemeClr val="dk1"/>
              </a:buClr>
              <a:buSzPts val="4000"/>
            </a:pPr>
            <a:r>
              <a:rPr lang="pt-BR" sz="3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Fonte: autoria própria (2026).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lang="pt-BR" sz="4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endParaRPr sz="4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4" name="Google Shape;114;p1"/>
          <p:cNvGrpSpPr/>
          <p:nvPr/>
        </p:nvGrpSpPr>
        <p:grpSpPr>
          <a:xfrm>
            <a:off x="16509044" y="19173448"/>
            <a:ext cx="14275200" cy="1292700"/>
            <a:chOff x="95719" y="35348300"/>
            <a:chExt cx="14275200" cy="1292700"/>
          </a:xfrm>
        </p:grpSpPr>
        <p:sp>
          <p:nvSpPr>
            <p:cNvPr id="115" name="Google Shape;115;p1"/>
            <p:cNvSpPr txBox="1"/>
            <p:nvPr/>
          </p:nvSpPr>
          <p:spPr>
            <a:xfrm>
              <a:off x="95719" y="35348300"/>
              <a:ext cx="14275200" cy="12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lang="en-US" sz="8000" b="1" i="0" u="none" strike="noStrike" cap="none" dirty="0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Testes e </a:t>
              </a:r>
              <a:r>
                <a:rPr lang="en-US" sz="8000" b="1" i="0" u="none" strike="noStrike" cap="none" dirty="0" err="1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Resultados</a:t>
              </a:r>
              <a:endParaRPr sz="8000" b="1" i="0" u="none" strike="noStrike" cap="none" dirty="0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 rot="-5400000">
              <a:off x="12005700" y="33882593"/>
              <a:ext cx="144000" cy="45720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endParaRPr sz="8500" b="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Figura1">
            <a:extLst>
              <a:ext uri="{FF2B5EF4-FFF2-40B4-BE49-F238E27FC236}">
                <a16:creationId xmlns:a16="http://schemas.microsoft.com/office/drawing/2014/main" id="{EC24A32B-4095-5E10-28EB-A5C385E15DF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8"/>
          <a:stretch>
            <a:fillRect/>
          </a:stretch>
        </p:blipFill>
        <p:spPr bwMode="auto">
          <a:xfrm>
            <a:off x="2269986" y="29072083"/>
            <a:ext cx="13465314" cy="71534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03B557F-056B-2D2C-1CF8-06FBDB619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01641" y="23607308"/>
            <a:ext cx="8490005" cy="6351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Personalizar</PresentationFormat>
  <Paragraphs>67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Lato</vt:lpstr>
      <vt:lpstr>Calibri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figosp</dc:creator>
  <cp:lastModifiedBy>Joao Vitor Dallegrave</cp:lastModifiedBy>
  <cp:revision>1</cp:revision>
  <dcterms:created xsi:type="dcterms:W3CDTF">2021-02-12T18:02:33Z</dcterms:created>
  <dcterms:modified xsi:type="dcterms:W3CDTF">2026-05-17T21:47:56Z</dcterms:modified>
</cp:coreProperties>
</file>